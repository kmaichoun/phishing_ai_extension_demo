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6ccc41ece14dc5" /><Relationship Type="http://schemas.openxmlformats.org/officeDocument/2006/relationships/extended-properties" Target="/docProps/app.xml" Id="Rfe2ad316349a4e31" /><Relationship Type="http://schemas.openxmlformats.org/officeDocument/2006/relationships/officeDocument" Target="/ppt/presentation.xml" Id="R2b6bd2ffe37743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6ce02713f14621"/>
  </p:sldMasterIdLst>
  <p:notesMasterIdLst>
    <p:notesMasterId xmlns:r="http://schemas.openxmlformats.org/officeDocument/2006/relationships" r:id="R58ec23a357694d98"/>
  </p:notesMasterIdLst>
  <p:sldIdLst>
    <p:sldId xmlns:r="http://schemas.openxmlformats.org/officeDocument/2006/relationships" id="256" r:id="Rcea531ddef8f40f3"/>
    <p:sldId xmlns:r="http://schemas.openxmlformats.org/officeDocument/2006/relationships" id="257" r:id="R2345f56d3c4543b5"/>
    <p:sldId xmlns:r="http://schemas.openxmlformats.org/officeDocument/2006/relationships" id="258" r:id="R50ae0914c23240d5"/>
    <p:sldId xmlns:r="http://schemas.openxmlformats.org/officeDocument/2006/relationships" id="259" r:id="R8a2f8676a7e74e6b"/>
    <p:sldId xmlns:r="http://schemas.openxmlformats.org/officeDocument/2006/relationships" id="260" r:id="R7979a875b491417e"/>
    <p:sldId xmlns:r="http://schemas.openxmlformats.org/officeDocument/2006/relationships" id="261" r:id="Rfa065181b4cc4c43"/>
    <p:sldId xmlns:r="http://schemas.openxmlformats.org/officeDocument/2006/relationships" id="262" r:id="R77ad02ac56984608"/>
    <p:sldId xmlns:r="http://schemas.openxmlformats.org/officeDocument/2006/relationships" id="263" r:id="Rfc211846af4b48ac"/>
    <p:sldId xmlns:r="http://schemas.openxmlformats.org/officeDocument/2006/relationships" id="264" r:id="Rf0f8706441d44036"/>
    <p:sldId xmlns:r="http://schemas.openxmlformats.org/officeDocument/2006/relationships" id="265" r:id="Rbc744eddc35f47ef"/>
    <p:sldId xmlns:r="http://schemas.openxmlformats.org/officeDocument/2006/relationships" id="266" r:id="Rc416d12e0f6346c9"/>
    <p:sldId xmlns:r="http://schemas.openxmlformats.org/officeDocument/2006/relationships" id="267" r:id="Rd08cf9b6166c4130"/>
    <p:sldId xmlns:r="http://schemas.openxmlformats.org/officeDocument/2006/relationships" id="268" r:id="Re323f85e30a543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efde79f1b641b7" /><Relationship Type="http://schemas.openxmlformats.org/officeDocument/2006/relationships/slideMaster" Target="/ppt/slideMasters/slideMaster1.xml" Id="R2f6ce02713f14621" /><Relationship Type="http://schemas.openxmlformats.org/officeDocument/2006/relationships/notesMaster" Target="/ppt/notesMasters/notesMaster1.xml" Id="R58ec23a357694d98" /><Relationship Type="http://schemas.openxmlformats.org/officeDocument/2006/relationships/presProps" Target="/ppt/presProps.xml" Id="Rd976598c244740be" /><Relationship Type="http://schemas.openxmlformats.org/officeDocument/2006/relationships/tableStyles" Target="/ppt/tableStyles.xml" Id="R6ea2cb948be94d00" /><Relationship Type="http://schemas.openxmlformats.org/officeDocument/2006/relationships/slide" Target="/ppt/slides/slide1.xml" Id="Rcea531ddef8f40f3" /><Relationship Type="http://schemas.openxmlformats.org/officeDocument/2006/relationships/slide" Target="/ppt/slides/slide2.xml" Id="R2345f56d3c4543b5" /><Relationship Type="http://schemas.openxmlformats.org/officeDocument/2006/relationships/slide" Target="/ppt/slides/slide3.xml" Id="R50ae0914c23240d5" /><Relationship Type="http://schemas.openxmlformats.org/officeDocument/2006/relationships/slide" Target="/ppt/slides/slide4.xml" Id="R8a2f8676a7e74e6b" /><Relationship Type="http://schemas.openxmlformats.org/officeDocument/2006/relationships/slide" Target="/ppt/slides/slide5.xml" Id="R7979a875b491417e" /><Relationship Type="http://schemas.openxmlformats.org/officeDocument/2006/relationships/slide" Target="/ppt/slides/slide6.xml" Id="Rfa065181b4cc4c43" /><Relationship Type="http://schemas.openxmlformats.org/officeDocument/2006/relationships/slide" Target="/ppt/slides/slide7.xml" Id="R77ad02ac56984608" /><Relationship Type="http://schemas.openxmlformats.org/officeDocument/2006/relationships/slide" Target="/ppt/slides/slide8.xml" Id="Rfc211846af4b48ac" /><Relationship Type="http://schemas.openxmlformats.org/officeDocument/2006/relationships/slide" Target="/ppt/slides/slide9.xml" Id="Rf0f8706441d44036" /><Relationship Type="http://schemas.openxmlformats.org/officeDocument/2006/relationships/slide" Target="/ppt/slides/slide10.xml" Id="Rbc744eddc35f47ef" /><Relationship Type="http://schemas.openxmlformats.org/officeDocument/2006/relationships/slide" Target="/ppt/slides/slide11.xml" Id="Rc416d12e0f6346c9" /><Relationship Type="http://schemas.openxmlformats.org/officeDocument/2006/relationships/slide" Target="/ppt/slides/slide12.xml" Id="Rd08cf9b6166c4130" /><Relationship Type="http://schemas.openxmlformats.org/officeDocument/2006/relationships/slide" Target="/ppt/slides/slide13.xml" Id="Re323f85e30a543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340d297657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2e926f5995417c" /><Relationship Type="http://schemas.openxmlformats.org/officeDocument/2006/relationships/notesMaster" Target="/ppt/notesMasters/notesMaster1.xml" Id="R30432806a7e942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cb36f426c44ba3" /><Relationship Type="http://schemas.openxmlformats.org/officeDocument/2006/relationships/notesMaster" Target="/ppt/notesMasters/notesMaster1.xml" Id="R3d20eabff2e342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d11c1708e249ec" /><Relationship Type="http://schemas.openxmlformats.org/officeDocument/2006/relationships/notesMaster" Target="/ppt/notesMasters/notesMaster1.xml" Id="R4dbc168fc98046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db0c70359a402d" /><Relationship Type="http://schemas.openxmlformats.org/officeDocument/2006/relationships/notesMaster" Target="/ppt/notesMasters/notesMaster1.xml" Id="Rfffd06ee478646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67225b7d3a4fe7" /><Relationship Type="http://schemas.openxmlformats.org/officeDocument/2006/relationships/notesMaster" Target="/ppt/notesMasters/notesMaster1.xml" Id="R38795da9fa4943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a3cc63178f4e28" /><Relationship Type="http://schemas.openxmlformats.org/officeDocument/2006/relationships/notesMaster" Target="/ppt/notesMasters/notesMaster1.xml" Id="Rc706d8a6017b44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0b61b1cc554979" /><Relationship Type="http://schemas.openxmlformats.org/officeDocument/2006/relationships/notesMaster" Target="/ppt/notesMasters/notesMaster1.xml" Id="R796e0abb19ca48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f67ffa43084132" /><Relationship Type="http://schemas.openxmlformats.org/officeDocument/2006/relationships/notesMaster" Target="/ppt/notesMasters/notesMaster1.xml" Id="R53240273bff94d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69e79d69824e10" /><Relationship Type="http://schemas.openxmlformats.org/officeDocument/2006/relationships/notesMaster" Target="/ppt/notesMasters/notesMaster1.xml" Id="Raf86257ea5b54a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9b391b8ba14fb8" /><Relationship Type="http://schemas.openxmlformats.org/officeDocument/2006/relationships/notesMaster" Target="/ppt/notesMasters/notesMaster1.xml" Id="Rff180dc19f4640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0658f7de4c421e" /><Relationship Type="http://schemas.openxmlformats.org/officeDocument/2006/relationships/notesMaster" Target="/ppt/notesMasters/notesMaster1.xml" Id="R2bee92b184774d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398bf51a9c466e" /><Relationship Type="http://schemas.openxmlformats.org/officeDocument/2006/relationships/notesMaster" Target="/ppt/notesMasters/notesMaster1.xml" Id="R131167775c7545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7f13821e77485e" /><Relationship Type="http://schemas.openxmlformats.org/officeDocument/2006/relationships/notesMaster" Target="/ppt/notesMasters/notesMaster1.xml" Id="R286981dc17b7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เปิดด้วยภาพผลิตภัณฑ์จริง แล้วสรุปว่าระบบช่วยหยุดผู้ใช้ก่อนตัดสินใจบนเว็บไซต์ที่มีความเสี่ยง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extension/</a:t>
            </a:r>
          </a:p>
          <a:p xmlns:a="http://schemas.openxmlformats.org/drawingml/2006/main">
            <a:r>
              <a:t>- Local screenshot: tmp/presentation/assets/popup-current.png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อธิบายว่าการตัดสินจากกฎหรือโมเดลเพียงตัวเดียวทำให้มีจุดบอด จึงต้องรวมหลายแหล่งสัญญาณและรายงาน Precision, Recall, F1, ROC-AUC และ FPR ร่วมกัน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docs/RISK_MODEL_METHODOLOGY_TH.md</a:t>
            </a:r>
          </a:p>
          <a:p xmlns:a="http://schemas.openxmlformats.org/drawingml/2006/main">
            <a:r>
              <a:t>- https://doi.org/10.1371/journal.pone.0118432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ไล่สถาปัตยกรรมจาก browser ไปสู่ risk engine และชั้นข้อมูล โดยเน้นว่าแต่ละส่วนแยกความรับผิดชอบชัดเจน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</a:t>
            </a:r>
          </a:p>
          <a:p xmlns:a="http://schemas.openxmlformats.org/drawingml/2006/main">
            <a:r>
              <a:t>- Local project source: backend/app/</a:t>
            </a:r>
          </a:p>
          <a:p xmlns:a="http://schemas.openxmlformats.org/drawingml/2006/main">
            <a:r>
              <a:t>- Local project source: extension/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ชี้ให้เห็นองค์ประกอบที่ทำให้การเตือนอธิบายได้ ได้แก่คะแนนรวม คะแนนรายแหล่ง และสถานะของ ML/LLM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extension/warning.html</a:t>
            </a:r>
          </a:p>
          <a:p xmlns:a="http://schemas.openxmlformats.org/drawingml/2006/main">
            <a:r>
              <a:t>- Local screenshot: tmp/presentation/assets/warning-current.png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อธิบายเหตุผลของการแบ่งกลุ่มตาม hostname เพื่อลด leakage จากโดเมนซ้ำ และ calibrate ความน่าจะเป็นก่อนนำไปผสมกับ RuleScore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backend/data/risk_model_evaluation.json</a:t>
            </a:r>
          </a:p>
          <a:p xmlns:a="http://schemas.openxmlformats.org/drawingml/2006/main">
            <a:r>
              <a:t>- https://scikit-learn.org/stable/modules/generated/sklearn.model_selection.StratifiedGroupKFold.html</a:t>
            </a:r>
          </a:p>
          <a:p xmlns:a="http://schemas.openxmlformats.org/drawingml/2006/main">
            <a:r>
              <a:t>- https://scikit-learn.org/stable/modules/calibration.html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ชุดข้อมูลประกอบด้วย phishing และ legitimate อย่างละ 5,000 รายการ รวม 7,933 hostname groups และประเมินแบบ 5 folds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backend/data/risk_model_evaluation.json</a:t>
            </a:r>
          </a:p>
          <a:p xmlns:a="http://schemas.openxmlformats.org/drawingml/2006/main">
            <a:r>
              <a:t>- https://phishtank.org/developer_info.php</a:t>
            </a:r>
          </a:p>
          <a:p xmlns:a="http://schemas.openxmlformats.org/drawingml/2006/main">
            <a:r>
              <a:t>- https://www.openphish.com/phishing_feeds.html</a:t>
            </a:r>
          </a:p>
          <a:p xmlns:a="http://schemas.openxmlformats.org/drawingml/2006/main">
            <a:r>
              <a:t>- https://tranco-list.eu/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นโยบายที่เลือกคือ alpha 0.4 และ threshold 0.22: Precision 95.09%, Recall 96.82%, F1 95.95%, ROC-AUC 98.71%, FPR 5.00%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backend/data/risk_model_evaluation.json</a:t>
            </a:r>
          </a:p>
          <a:p xmlns:a="http://schemas.openxmlformats.org/drawingml/2006/main">
            <a:r>
              <a:t>- https://doi.org/10.1145/1102351.1102430</a:t>
            </a:r>
          </a:p>
          <a:p xmlns:a="http://schemas.openxmlformats.org/drawingml/2006/main">
            <a:r>
              <a:t>- https://doi.org/10.1371/journal.pone.0118432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อธิบายว่าบัญชีเดียวใช้ได้ทั้ง User และ Admin แต่ Role ถูกกำหนดในฐานข้อมูล ไม่เปิดให้สมัครเป็น Admin จากหน้าเว็บ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web/login.html</a:t>
            </a:r>
          </a:p>
          <a:p xmlns:a="http://schemas.openxmlformats.org/drawingml/2006/main">
            <a:r>
              <a:t>- Local project source: backend/app/auth/</a:t>
            </a:r>
          </a:p>
          <a:p xmlns:a="http://schemas.openxmlformats.org/drawingml/2006/main">
            <a:r>
              <a:t>- Local screenshot: tmp/presentation/assets/login-current.png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แยกข้อมูล identity ออกจาก history และอธิบายว่าสิทธิ์ Admin ไม่ได้มาจากข้อมูลที่ผู้ใช้กรอกเอง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database/001_create_auth_schema.sql</a:t>
            </a:r>
          </a:p>
          <a:p xmlns:a="http://schemas.openxmlformats.org/drawingml/2006/main">
            <a:r>
              <a:t>- Local project source: backend/app/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Qwen ทำงานในเครื่องและเหมาะเป็นค่าเริ่มต้น ส่วน cloud model ใช้เปรียบเทียบหรือเป็นตัวเลือกสำรอง โดยไม่ให้ LLM เปลี่ยนคะแนนความเสี่ยง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docs/LLM_COMPARISON_TH.md</a:t>
            </a:r>
          </a:p>
          <a:p xmlns:a="http://schemas.openxmlformats.org/drawingml/2006/main">
            <a:r>
              <a:t>- https://ollama.com/library/qwen3%3A4b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ลดขั้นตอนเปิด backend และ web app พร้อมมีคำสั่ง migrate และ validation แยกชัดเจน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start-demo.sh</a:t>
            </a:r>
          </a:p>
          <a:p xmlns:a="http://schemas.openxmlformats.org/drawingml/2006/main">
            <a:r>
              <a:t>- Local project source: migrate-db.sh</a:t>
            </a:r>
          </a:p>
          <a:p xmlns:a="http://schemas.openxmlformats.org/drawingml/2006/main">
            <a:r>
              <a:t>- Local project source: scripts/validate_project.ps1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สรุปแหล่งข้อมูล งานวิจัย calibration และแนวทางประเมินโมเดลที่นำมาอ้างอิง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https://phishtank.org/developer_info.php</a:t>
            </a:r>
          </a:p>
          <a:p xmlns:a="http://schemas.openxmlformats.org/drawingml/2006/main">
            <a:r>
              <a:t>- https://www.openphish.com/phishing_feeds.html</a:t>
            </a:r>
          </a:p>
          <a:p xmlns:a="http://schemas.openxmlformats.org/drawingml/2006/main">
            <a:r>
              <a:t>- https://tranco-list.eu/</a:t>
            </a:r>
          </a:p>
          <a:p xmlns:a="http://schemas.openxmlformats.org/drawingml/2006/main">
            <a:r>
              <a:t>- https://doi.org/10.14722/ndss.2019.23386</a:t>
            </a:r>
          </a:p>
          <a:p xmlns:a="http://schemas.openxmlformats.org/drawingml/2006/main">
            <a:r>
              <a:t>- https://doi.org/10.1145/1102351.1102430</a:t>
            </a:r>
          </a:p>
          <a:p xmlns:a="http://schemas.openxmlformats.org/drawingml/2006/main">
            <a:r>
              <a:t>- https://doi.org/10.1371/journal.pone.0118432</a:t>
            </a:r>
          </a:p>
          <a:p xmlns:a="http://schemas.openxmlformats.org/drawingml/2006/main">
            <a:r>
              <a:t>- https://scikit-learn.org/stable/modules/generated/sklearn.model_selection.StratifiedGroupKFold.html</a:t>
            </a:r>
          </a:p>
          <a:p xmlns:a="http://schemas.openxmlformats.org/drawingml/2006/main">
            <a:r>
              <a:t>- https://scikit-learn.org/stable/modules/calibration.html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ปิดด้วยงานถัดไปสามเรื่อง: ทดสอบกับข้อมูลคนละช่วงเวลา, เปรียบเทียบคำอธิบาย LLM อย่างเป็นระบบ และติดตาม drift ก่อน retrain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docs/RISK_MODEL_METHODOLOGY_TH.md</a:t>
            </a:r>
          </a:p>
          <a:p xmlns:a="http://schemas.openxmlformats.org/drawingml/2006/main">
            <a:r>
              <a:t>- Local project source: docs/LLM_COMPARISON_TH.md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0c77ecde14a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0f3dc8588a4e07" /><Relationship Type="http://schemas.openxmlformats.org/officeDocument/2006/relationships/slideLayout" Target="/ppt/slideLayouts/slideLayout1.xml" Id="R8b78ed2b7ae547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78ed2b7ae547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dadebeb844148" /><Relationship Type="http://schemas.openxmlformats.org/officeDocument/2006/relationships/image" Target="/ppt/media/image.png" Id="R784d36428a494b4f" /><Relationship Type="http://schemas.openxmlformats.org/officeDocument/2006/relationships/notesSlide" Target="/ppt/notesSlides/notesSlide1.xml" Id="Rba305d07098247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0a350cb094e18" /><Relationship Type="http://schemas.openxmlformats.org/officeDocument/2006/relationships/notesSlide" Target="/ppt/notesSlides/notesSlide2.xml" Id="R0f881b2ae4f84a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4bdc8a82e41c6" /><Relationship Type="http://schemas.openxmlformats.org/officeDocument/2006/relationships/notesSlide" Target="/ppt/notesSlides/notesSlide3.xml" Id="R183de596d6ec4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4582dc1aa48c9" /><Relationship Type="http://schemas.openxmlformats.org/officeDocument/2006/relationships/image" Target="/ppt/media/image2.png" Id="Rd2415cf9b0a24081" /><Relationship Type="http://schemas.openxmlformats.org/officeDocument/2006/relationships/notesSlide" Target="/ppt/notesSlides/notesSlide4.xml" Id="Re195e16c18184e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96f9677c0468a" /><Relationship Type="http://schemas.openxmlformats.org/officeDocument/2006/relationships/notesSlide" Target="/ppt/notesSlides/notesSlide5.xml" Id="Rd0c948710d9546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55169341741c2" /><Relationship Type="http://schemas.openxmlformats.org/officeDocument/2006/relationships/notesSlide" Target="/ppt/notesSlides/notesSlide6.xml" Id="R1b41ae19ccff46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8c74298fb449a" /><Relationship Type="http://schemas.openxmlformats.org/officeDocument/2006/relationships/chart" Target="/ppt/slides/charts/chart1.xml" Id="Ra16c2554762f4eac" /><Relationship Type="http://schemas.openxmlformats.org/officeDocument/2006/relationships/notesSlide" Target="/ppt/notesSlides/notesSlide7.xml" Id="R63ce8e33231e47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f655516c54963" /><Relationship Type="http://schemas.openxmlformats.org/officeDocument/2006/relationships/image" Target="/ppt/media/image3.png" Id="Rebeac718f18b47c8" /><Relationship Type="http://schemas.openxmlformats.org/officeDocument/2006/relationships/notesSlide" Target="/ppt/notesSlides/notesSlide8.xml" Id="Red5be48b4e2548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256d65925438e" /><Relationship Type="http://schemas.openxmlformats.org/officeDocument/2006/relationships/notesSlide" Target="/ppt/notesSlides/notesSlide9.xml" Id="R7b2a4bcdc2604b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e3341548b4316" /><Relationship Type="http://schemas.openxmlformats.org/officeDocument/2006/relationships/notesSlide" Target="/ppt/notesSlides/notesSlide10.xml" Id="Rcf7b2d40db4443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3b85061ba4d13" /><Relationship Type="http://schemas.openxmlformats.org/officeDocument/2006/relationships/notesSlide" Target="/ppt/notesSlides/notesSlide11.xml" Id="R406359c1d0f34b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b44c6694f4b89" /><Relationship Type="http://schemas.openxmlformats.org/officeDocument/2006/relationships/notesSlide" Target="/ppt/notesSlides/notesSlide12.xml" Id="Rc3901cc80d7b45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6a18922f44fc2" /><Relationship Type="http://schemas.openxmlformats.org/officeDocument/2006/relationships/notesSlide" Target="/ppt/notesSlides/notesSlide13.xml" Id="R1a62b1b3d6aa460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Recall</c:v>
          </c:tx>
          <c:spPr>
            <a:ln xmlns:a="http://schemas.openxmlformats.org/drawingml/2006/main" w="38100">
              <a:solidFill>
                <a:srgbClr val="D86F7C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0"%"</c:formatCode>
              <c:ptCount val="6"/>
              <c:pt idx="0">
                <c:v>96.64</c:v>
              </c:pt>
              <c:pt idx="1">
                <c:v>96.66</c:v>
              </c:pt>
              <c:pt idx="2">
                <c:v>96.82</c:v>
              </c:pt>
              <c:pt idx="3">
                <c:v>96.68</c:v>
              </c:pt>
              <c:pt idx="4">
                <c:v>55.68</c:v>
              </c:pt>
              <c:pt idx="5">
                <c:v>23.28</c:v>
              </c:pt>
            </c:numLit>
          </c:val>
        </c:ser>
        <c:ser>
          <c:idx val="1"/>
          <c:order val="1"/>
          <c:tx>
            <c:v>F1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0"%"</c:formatCode>
              <c:ptCount val="6"/>
              <c:pt idx="0">
                <c:v>95.85</c:v>
              </c:pt>
              <c:pt idx="1">
                <c:v>95.92</c:v>
              </c:pt>
              <c:pt idx="2">
                <c:v>95.95</c:v>
              </c:pt>
              <c:pt idx="3">
                <c:v>95.88</c:v>
              </c:pt>
              <c:pt idx="4">
                <c:v>69.69</c:v>
              </c:pt>
              <c:pt idx="5">
                <c:v>37.1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α — น้ำหนักของ RuleScore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9D110BC-6BD4-45A9-A6CE-502528D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EEF143D-A4C4-421B-8D2D-8491F88C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Phish Radar AI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6E97847E-0B05-4BED-B11E-DED0260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d36428a494b4f"/>
          <a:stretch xmlns:a="http://schemas.openxmlformats.org/drawingml/2006/main"/>
        </p:blipFill>
        <p:spPr>
          <a:xfrm xmlns:a="http://schemas.openxmlformats.org/drawingml/2006/main">
            <a:off x="7332070" y="396431"/>
            <a:ext cx="3413739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3DE7B778-CB5F-4EE0-9EA3-FFFFB843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ตรวจจับเว็บไซต์เสี่ยง
ก่อนผู้ใช้ตัดสินใจ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Chrome Extension และ Web App ที่ผสาน Rule-based, Machine Learning และ Qwen เพื่ออธิบายความเสี่ยงอย่างโปร่งใส</a:t>
            </a:r>
          </a:p>
        </p:txBody>
      </p:sp>
      <p:sp>
        <p:nvSpPr>
          <p:cNvPr id="6" name="project-accent">
            <a:extLst xmlns:a="http://schemas.openxmlformats.org/drawingml/2006/main">
              <a:ext uri="{FF2B5EF4-FFF2-40B4-BE49-F238E27FC236}">
                <a16:creationId xmlns:a16="http://schemas.microsoft.com/office/drawing/2014/main" id="{1A06A52C-65E2-4E36-AB8B-8F331827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F7C"/>
          </a:solidFill>
          <a:ln xmlns:a="http://schemas.openxmlformats.org/drawingml/2006/main" w="0">
            <a:solidFill>
              <a:srgbClr val="D86F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1573216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7C41CEA1-3D20-4774-ADC4-6E2981F4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6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สัญญาณเดียวไม่พอ
ระบบต้องมองหลายชั้น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A298908-E1D2-46D2-BECF-2B9AF6AC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โจทย์ของระบบ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03D4F49-ED1B-4F58-9F64-312C089D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Phishing Detection</a:t>
            </a:r>
          </a:p>
        </p:txBody>
      </p:sp>
      <p:sp>
        <p:nvSpPr>
          <p:cNvPr id="4" name="project-accent">
            <a:extLst xmlns:a="http://schemas.openxmlformats.org/drawingml/2006/main">
              <a:ext uri="{FF2B5EF4-FFF2-40B4-BE49-F238E27FC236}">
                <a16:creationId xmlns:a16="http://schemas.microsoft.com/office/drawing/2014/main" id="{534F82CE-3451-4BC0-9894-571488C9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F7C"/>
          </a:solidFill>
          <a:ln xmlns:a="http://schemas.openxmlformats.org/drawingml/2006/main" w="0">
            <a:solidFill>
              <a:srgbClr val="D86F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3369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98B61ED-0E5F-4811-BF09-D675C93E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0DF7961-B2A1-4AE3-8000-9EAC2364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ทุกการตัดสินใจไหลผ่านสามชั้นที่ตรวจสอบย้อนกลับได้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D8C2409-AAB6-403E-8138-6DD9C0BF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B195037-2C8B-4064-B4FC-6374BEC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F6868A9-32DB-4339-BAE9-BCC89D8A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4D5FD3E-9B23-407A-9B8A-D06C7E5F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01  BROWSER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A97173D-5A15-4442-B58C-8980851D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02  ENGINE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FDFE600-4828-41E8-A2C1-64A6FEBB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03  DATA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95746D0-E911-4D21-B171-6509712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Backend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Calibrated Random Forest + policy α/threshold + Qwen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F2123DF-4354-4D61-ACBD-34E3D440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Extension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ตรวจ URL, หน้าเว็บ, ฟอร์ม, QR และ Clipboard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77E79E7-C592-4E95-A32D-09F40AB6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SQL Server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ผู้ใช้ อุปกรณ์ Session และประวัติการค้นหา</a:t>
            </a:r>
          </a:p>
        </p:txBody>
      </p:sp>
    </p:spTree>
    <p:extLst>
      <p:ext uri="{BB962C8B-B14F-4D97-AF65-F5344CB8AC3E}">
        <p14:creationId xmlns:p14="http://schemas.microsoft.com/office/powerpoint/2010/main" val="11627709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1642116-24B1-43F9-910B-BAD8B622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F1C00F6-2B14-4A9D-883D-36AB37E5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82 คะแนน: อธิบายที่มาได้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CF9E175F-D89A-449A-84C2-B1BAC092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15cf9b0a24081"/>
          <a:srcRect xmlns:a="http://schemas.openxmlformats.org/drawingml/2006/main" l="19097" t="0" r="19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B23038C8-B19A-40B3-8BA4-B36D20B2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ไม่ใช่แค่บล็อก
แต่บอกเหตุผล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ผู้ใช้เห็น RuleScore, MLScore, สูตรผสม และคำแนะนำจาก LLM ก่อนเปิดปลายทาง</a:t>
            </a:r>
          </a:p>
        </p:txBody>
      </p:sp>
      <p:sp>
        <p:nvSpPr>
          <p:cNvPr id="6" name="project-accent">
            <a:extLst xmlns:a="http://schemas.openxmlformats.org/drawingml/2006/main">
              <a:ext uri="{FF2B5EF4-FFF2-40B4-BE49-F238E27FC236}">
                <a16:creationId xmlns:a16="http://schemas.microsoft.com/office/drawing/2014/main" id="{B103B646-4467-4740-A66A-237874F8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F7C"/>
          </a:solidFill>
          <a:ln xmlns:a="http://schemas.openxmlformats.org/drawingml/2006/main" w="0">
            <a:solidFill>
              <a:srgbClr val="D86F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2748805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7F051A6-F019-4B42-8DA6-578DDC08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C67F4BC-800B-4920-9EC1-A16B656F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Pipeline แยกการเรียนรู้ การประเมิน และการเลือก policy ออกจากกัน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07C58A9-870E-45D3-B863-B579EB77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7EBC24B-E82A-40C1-B10F-B1E07A30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8C073ED-684C-4D01-AA08-41BCA027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58FD0B7-0D43-4BF8-B758-307756A7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DATA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B55714F-91D4-4D23-8A15-E36BF485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VALIDATE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EC2E36D-09BC-4F31-BE4D-B6D61FFC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SELECT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C19EDC3-AAA6-4CE0-9A45-F10B66FD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Grouped CV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5 folds ตาม hostname และ calibrate predict_proba แบบ sigmoid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DCA9933-B474-43CB-A3DD-2F678AAC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10,000 URL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Phishing 5,000 + Legitimate 5,000 จาก feed ที่บันทึก hash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8EBA7E0-D26E-4223-BBC9-86A2DD83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1,911 policies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ทดสอบ α 21 ค่า × threshold 91 ค่า ภายใต้ FPR ≤ 5%</a:t>
            </a:r>
          </a:p>
        </p:txBody>
      </p:sp>
      <p:sp>
        <p:nvSpPr>
          <p:cNvPr id="1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BA24EBC-EA7F-42CD-A37F-F2ACF161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632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Leelawadee UI"/>
                <a:ea typeface="Leelawadee UI"/>
                <a:cs typeface="Leelawadee UI"/>
              </a:defRPr>
            </a:pPr>
            <a:r>
              <a:rPr sz="713">
                <a:solidFill>
                  <a:srgbClr val="666666"/>
                </a:solidFill>
                <a:latin typeface="Leelawadee UI"/>
                <a:ea typeface="Leelawadee UI"/>
                <a:cs typeface="Leelawadee UI"/>
              </a:rPr>
              <a:t>ที่มา: backend/data/risk_model_evaluation.json · ประเมินเมื่อ 14 มิ.ย. 2026</a:t>
            </a:r>
          </a:p>
        </p:txBody>
      </p:sp>
    </p:spTree>
    <p:extLst>
      <p:ext uri="{BB962C8B-B14F-4D97-AF65-F5344CB8AC3E}">
        <p14:creationId xmlns:p14="http://schemas.microsoft.com/office/powerpoint/2010/main" val="8737258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9D89D49-E916-4BA8-BFC9-1F65390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4CED24B-D847-4656-9087-AE13485F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F080925-7E23-4754-9B66-6D92011C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7B483E4-613C-4CED-9500-DB299597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D3686568-9B3D-44C6-BA47-2697C465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การทดลองออกแบบเพื่อลด data leakage และวัดผลซ้ำได้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174838D-B2C4-49F8-A0B0-F4529DE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URL ทั้งหมด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BF84B33-5B1A-4184-8F8C-1E522A18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Stratified Group CV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564B947-5C0C-4D78-A160-E2AD5C4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hostname groups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D129FD9D-C235-4962-85CF-BBFF4F2E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10,000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57DC27E-27B7-4534-8C9F-5AD1454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7,933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B79C90F-EE30-4C6E-964A-AFE3EA7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5 folds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B0B24DA-8052-4F3E-ACC0-7A037B3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Evaluation design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ชุดข้อมูลสมดุล แบ่งกลุ่มตาม hostname และใช้ seed เดิมเพื่อให้ผลทดลองทำซ้ำได้</a:t>
            </a:r>
          </a:p>
        </p:txBody>
      </p:sp>
      <p:sp>
        <p:nvSpPr>
          <p:cNvPr id="1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429A56C-BB5E-4CED-85FA-6939B0C7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632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Leelawadee UI"/>
                <a:ea typeface="Leelawadee UI"/>
                <a:cs typeface="Leelawadee UI"/>
              </a:defRPr>
            </a:pPr>
            <a:r>
              <a:rPr sz="713">
                <a:solidFill>
                  <a:srgbClr val="666666"/>
                </a:solidFill>
                <a:latin typeface="Leelawadee UI"/>
                <a:ea typeface="Leelawadee UI"/>
                <a:cs typeface="Leelawadee UI"/>
              </a:rPr>
              <a:t>ที่มา: backend/data/risk_model_evaluation.json</a:t>
            </a:r>
          </a:p>
        </p:txBody>
      </p:sp>
    </p:spTree>
    <p:extLst>
      <p:ext uri="{BB962C8B-B14F-4D97-AF65-F5344CB8AC3E}">
        <p14:creationId xmlns:p14="http://schemas.microsoft.com/office/powerpoint/2010/main" val="6707045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D89F0F1-A149-4524-80FE-78D63EF1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CBA31E8-5A77-4A6A-B5CD-964B0F31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α = 0.4 รักษา Recall สูง โดยไม่เกินเพดาน FPR 5%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4AA827BA-FD35-44F8-BB31-D8B02F60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3CD465F3-E0C6-4EA9-BEBE-90B5F5AF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96.82%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2E02128-7200-48B5-A6EC-E2E9075B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Recall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0C06106E-041E-43AB-AC15-6BED56F7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F5DB7E65-7C73-4756-B77B-A6B461B9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95.95%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91F98D5-22CA-4E94-9C9E-3942E526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F1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A2346C1D-7227-4A5E-92D3-79425035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เมื่อให้น้ำหนัก RuleScore มากเกินไป Recall ลดลงอย่างชัดเจน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6c2554762f4eac"/>
          </a:graphicData>
        </a:graphic>
      </p:graphicFrame>
      <p:sp>
        <p:nvSpPr>
          <p:cNvPr id="11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BB13E788-5C92-4F4B-8E40-C34F7EB2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632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Leelawadee UI"/>
                <a:ea typeface="Leelawadee UI"/>
                <a:cs typeface="Leelawadee UI"/>
              </a:defRPr>
            </a:pPr>
            <a:r>
              <a:rPr sz="713">
                <a:solidFill>
                  <a:srgbClr val="666666"/>
                </a:solidFill>
                <a:latin typeface="Leelawadee UI"/>
                <a:ea typeface="Leelawadee UI"/>
                <a:cs typeface="Leelawadee UI"/>
              </a:rPr>
              <a:t>ที่มา: risk_model_evaluation.json · threshold = 0.22 · Precision 95.09% · ROC-AUC 98.71%</a:t>
            </a:r>
          </a:p>
        </p:txBody>
      </p:sp>
    </p:spTree>
    <p:extLst>
      <p:ext uri="{BB962C8B-B14F-4D97-AF65-F5344CB8AC3E}">
        <p14:creationId xmlns:p14="http://schemas.microsoft.com/office/powerpoint/2010/main" val="10043879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906AC31-2068-4145-9E88-1800402A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B778D66-22B5-4667-832C-18CD87F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Login เชื่อมอุปกรณ์และประวัติ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0F89278-23A2-4D5B-86A1-4A34D97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ac718f18b47c8"/>
          <a:srcRect xmlns:a="http://schemas.openxmlformats.org/drawingml/2006/main" l="19097" t="0" r="19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DEA6938-38C9-45B6-A64A-59744BAE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สมัครและ Login ได้
ทั้ง User / Admin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เก็บ Username, Email, PasswordHash แบบ Argon2id, Device และ Session โดยไม่บันทึกรหัสผ่านจริง</a:t>
            </a:r>
          </a:p>
        </p:txBody>
      </p:sp>
      <p:sp>
        <p:nvSpPr>
          <p:cNvPr id="6" name="project-accent">
            <a:extLst xmlns:a="http://schemas.openxmlformats.org/drawingml/2006/main">
              <a:ext uri="{FF2B5EF4-FFF2-40B4-BE49-F238E27FC236}">
                <a16:creationId xmlns:a16="http://schemas.microsoft.com/office/drawing/2014/main" id="{6E75EF8D-2E0F-44E3-97CE-38A4B12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F7C"/>
          </a:solidFill>
          <a:ln xmlns:a="http://schemas.openxmlformats.org/drawingml/2006/main" w="0">
            <a:solidFill>
              <a:srgbClr val="D86F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171005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AE8F0D-2F64-4916-9934-E4595601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4EAD81A-9755-4A27-AC24-BC9ABFE3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สิทธิ์และประวัติถูกแยกเป็น schema ที่ตรวจสอบได้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5490925F-9C44-4B62-8D0D-691BA59F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0D8844E-8A5D-4982-B84A-10C36B63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Identity &amp; Session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ED528586-C35D-46B7-BA56-7B8D257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Users + Role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UserDevices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HttpOnly Sessions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3561BEA-F260-43F5-AB57-B56E89F8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04B6391-8B4A-48E9-BD62-51958985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Search History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39AEA96-6981-45D5-83A6-0263028F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URL / hostname hash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Rule / ML / Final score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Device + timestamp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3A1C977-5C10-4E0A-B629-4D93B4C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SQL Server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ข้อมูลประจำตัว Session และประวัติการค้นหาถูกจัดเก็บแยกกัน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ผู้ดูแลระบบเปลี่ยน Role ผ่าน SQL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579958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C39D91F-3B83-4BB8-8E93-A392ADC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F4EE7C7-429D-4CFA-8F29-868B90F2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Qwen เป็นค่าเริ่มต้น เพราะข้อมูลยังอยู่ในเครื่อง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DC573FA-7BE6-41C0-B458-9A0E8F15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9B25147-F0DC-4F3B-8DE2-17F8B828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Ollama + Qwen3:4b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A66479F-8AD7-48B0-9B0B-352B4AEF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Local / offline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ไม่ส่ง URL ออก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ไม่มีค่า API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12D0CFE-33FD-47EC-BE10-E8C145F4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8F74C88-93BC-44FE-9B3B-821A20AD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OpenAI cloud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B526648-6C57-4DD9-9A67-95FBEF65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ใช้เป็น benchmark / สำรอง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ต้องใช้อินเทอร์เน็ต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มีต้นทุนและ privacy trade-off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7A9118C-3165-4C6F-A04E-3B95C82E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LLM role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LLM มีหน้าที่อธิบายผล ไม่ใช่ผู้ตัดสินคะแนนหลัก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ระบบยังเตือนต่อได้เมื่อ LLM ไม่พร้อม</a:t>
            </a:r>
          </a:p>
        </p:txBody>
      </p:sp>
      <p:sp>
        <p:nvSpPr>
          <p:cNvPr id="10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18815CD-5984-4B06-BF7F-B4D5521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632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Leelawadee UI"/>
                <a:ea typeface="Leelawadee UI"/>
                <a:cs typeface="Leelawadee UI"/>
              </a:defRPr>
            </a:pPr>
            <a:r>
              <a:rPr sz="713">
                <a:solidFill>
                  <a:srgbClr val="666666"/>
                </a:solidFill>
                <a:latin typeface="Leelawadee UI"/>
                <a:ea typeface="Leelawadee UI"/>
                <a:cs typeface="Leelawadee UI"/>
              </a:rPr>
              <a:t>ที่มา: docs/LLM_COMPARISON_TH.md · Ollama Qwen3:4b</a:t>
            </a:r>
          </a:p>
        </p:txBody>
      </p:sp>
    </p:spTree>
    <p:extLst>
      <p:ext uri="{BB962C8B-B14F-4D97-AF65-F5344CB8AC3E}">
        <p14:creationId xmlns:p14="http://schemas.microsoft.com/office/powerpoint/2010/main" val="9506315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4118C44-BA3D-48D0-A582-5DF8EFF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AF71269-5566-4B56-994D-DD4AC2E9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เปิดระบบและตรวจความพร้อมได้จาก Git Bash ด้วย workflow เดียว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B81DCC5-9A02-45C5-A15C-06594B33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6D91886-7F7E-4583-847F-30686F28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E52A5CE-0D67-414A-AED0-AFCAC219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0247F49-D2A4-42D5-9D61-CAD75B0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START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B710438-FB63-410C-A630-7510341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MIGRATE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AFDF9E8-04AE-46F8-8A20-CC533B6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VERIFY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1EF1AE6-BE27-4F9B-80FE-8216C258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SQL schema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./migrate-db.sh
สร้าง Users, Devices, Sessions, History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CADDE8D-6124-4C64-8539-E52ADAD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Run demo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./start-demo.sh
เปิด Backend + Web App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5E7331B-8F34-4307-8AF2-FCDE9F75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Validation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validate_project.ps1
ตรวจ Extension, CORS, syntax และ ML pipeline</a:t>
            </a:r>
          </a:p>
        </p:txBody>
      </p:sp>
    </p:spTree>
    <p:extLst>
      <p:ext uri="{BB962C8B-B14F-4D97-AF65-F5344CB8AC3E}">
        <p14:creationId xmlns:p14="http://schemas.microsoft.com/office/powerpoint/2010/main" val="20763759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E942AFB-8E44-48F7-989B-73DFF664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FF32F20-939A-4303-BC90-3B47FC90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9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หลักฐานและงานวิจัยที่รองรับการออกแบบ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8192EFB-F8E2-4DF1-B53F-4C2747D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Dataset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PhishTank, OpenPhish, Tranco
NDSS 2019 · 10.14722/ndss.2019.23386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CF2CC9C-CFFC-43A5-87EC-E662D974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Calibration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Niculescu-Mizil &amp; Caruana
10.1145/1102351.1102430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54A50D5-3CEA-455A-A3C4-738224A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Evaluation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Precision–Recall vs ROC
10.1371/journal.pone.0118432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3742C65-B217-45F8-A351-ACD364A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Implementation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scikit-learn StratifiedGroupKFold
และ Probability Calibration</a:t>
            </a:r>
          </a:p>
        </p:txBody>
      </p:sp>
    </p:spTree>
    <p:extLst>
      <p:ext uri="{BB962C8B-B14F-4D97-AF65-F5344CB8AC3E}">
        <p14:creationId xmlns:p14="http://schemas.microsoft.com/office/powerpoint/2010/main" val="8206645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D13BB53-0F70-4CCE-95F3-B65C00AC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60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พร้อมพัฒนาต่อ
จากระบบสาธิตสู่การทดลองจริง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84E42ED-07DA-4126-AE48-2916EE2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Time-split holdout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LLM benchmark 30+ cases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Drift monitoring &amp; retraining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74BABA2-D202-4CEB-8CF0-A072B98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000000"/>
                </a:solidFill>
                <a:latin typeface="Leelawadee UI"/>
                <a:ea typeface="Leelawadee UI"/>
                <a:cs typeface="Leelawadee UI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811222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2026-07-24T11:59:53.0840000Z</dcterms:created>
  <dcterms:modified xsi:type="dcterms:W3CDTF">2026-07-24T11:59:53.0840000Z</dcterms:modified>
</coreProperties>
</file>